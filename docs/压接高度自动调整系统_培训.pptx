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开场白：本次培训覆盖系统从CSV读取到PLC指令下发的完整闭环流程，重点讲解五级优先级仲裁机制。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目录页，按顺序讲解。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物理布局：两个压头各自独立。每个压头同时压接两个产品。系统对每个压头独立分析和调整。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这是整个系统的数据流。从CSV文件开始，经过数据读取、统计计算、五级仲裁，最终发送PLC指令。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CSV解析细节。注意有效性判断是整行级别的，不是单个产品级别。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三种统计量：截尾均值消除极端值、偏差衡量离目标多远、斜率衡量趋势方向。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这是整个系统的核心。五级优先级仲裁，命中即止。P1最高，P5最低。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安全护栏是最后防线。三个检查项任一触发即停机。σ基线取历史最小值，只在稳态和漂移时更新。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P2是数据量不够时的保护。P3是发散检测的最严重级别。发散三级：Normal/Degraded/Stop。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P4有两个触发条件：越界（突变）和漂移（渐变），是或关系。任一满足就进入调整量计算。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调整量计算公式。先检查死区，再确定K值，计算原始Δ，最后限幅。正Δ=压头下降，负Δ=压头上升。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两个计算示例。示例1是正常模式下的偏高修正，示例2是降级模式下的偏低修正。注意K减半的效果。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漂移检测的核心：连续3拍斜率同号且幅度足够。数据对齐是为了消除产品间固定落差的干扰。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发散检测衡量同一压头下两个产品的差异。三级判定：Normal/Degraded/Stop。发散不直接触发调整，但会调制K值。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PLC指令下发的核心原则：停机优先于调整。如果任一压头需要停机，所有调整指令都被跳过。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状态机总结。四个压头状态：WarmUp/Stable/Drift/Outlier。三个发散等级：Normal/Degraded/Stop。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全部15个配置参数的默认值和说明。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代码模块与职责的对照关系。每个模块可独立复用。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0" Type="http://schemas.openxmlformats.org/officeDocument/2006/relationships/notesSlide" Target="../notesSlides/notesSlide11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 panose="020F0502020204030204"/>
              </a:rPr>
              <a:t>压接高度自动调整系统</a:t>
            </a:r>
            <a:endParaRPr sz="4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DC3C7"/>
                </a:solidFill>
                <a:latin typeface="Calibri" panose="020F0502020204030204"/>
              </a:rPr>
              <a:t>Run-to-Run 闭环控制  ·  内部培训</a:t>
            </a:r>
            <a:endParaRPr sz="24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C3C7"/>
                </a:solidFill>
                <a:latin typeface="Calibri" panose="020F0502020204030204"/>
              </a:rPr>
              <a:t>从数据读取到 PLC 指令下发的完整流程</a:t>
            </a:r>
            <a:endParaRPr sz="18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0" y="2880360"/>
            <a:ext cx="4846320" cy="36576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3C5E"/>
                </a:solidFill>
                <a:latin typeface="Calibri" panose="020F0502020204030204"/>
              </a:rPr>
              <a:t>目录</a:t>
            </a:r>
            <a:endParaRPr sz="36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AB"/>
                </a:solidFill>
                <a:latin typeface="Calibri" panose="020F0502020204030204"/>
              </a:rPr>
              <a:t>01</a:t>
            </a:r>
            <a:endParaRPr sz="2000" b="1">
              <a:solidFill>
                <a:srgbClr val="2E86AB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 panose="020F0502020204030204"/>
              </a:rPr>
              <a:t>系统概述与物理布局</a:t>
            </a:r>
            <a:endParaRPr sz="18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1993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AB"/>
                </a:solidFill>
                <a:latin typeface="Calibri" panose="020F0502020204030204"/>
              </a:rPr>
              <a:t>02</a:t>
            </a:r>
            <a:endParaRPr sz="2000" b="1">
              <a:solidFill>
                <a:srgbClr val="2E86A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19933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 panose="020F0502020204030204"/>
              </a:rPr>
              <a:t>端到端数据流总览</a:t>
            </a:r>
            <a:endParaRPr sz="18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252374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AB"/>
                </a:solidFill>
                <a:latin typeface="Calibri" panose="020F0502020204030204"/>
              </a:rPr>
              <a:t>03</a:t>
            </a:r>
            <a:endParaRPr sz="2000" b="1">
              <a:solidFill>
                <a:srgbClr val="2E86A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252374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 panose="020F0502020204030204"/>
              </a:rPr>
              <a:t>数据读取与统计计算</a:t>
            </a:r>
            <a:endParaRPr sz="18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30540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AB"/>
                </a:solidFill>
                <a:latin typeface="Calibri" panose="020F0502020204030204"/>
              </a:rPr>
              <a:t>04</a:t>
            </a:r>
            <a:endParaRPr sz="2000" b="1">
              <a:solidFill>
                <a:srgbClr val="2E86AB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305409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 panose="020F0502020204030204"/>
              </a:rPr>
              <a:t>五级优先级仲裁（核心）</a:t>
            </a:r>
            <a:endParaRPr sz="18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3584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AB"/>
                </a:solidFill>
                <a:latin typeface="Calibri" panose="020F0502020204030204"/>
              </a:rPr>
              <a:t>05</a:t>
            </a:r>
            <a:endParaRPr sz="2000" b="1">
              <a:solidFill>
                <a:srgbClr val="2E86A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35844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 panose="020F0502020204030204"/>
              </a:rPr>
              <a:t>发散检测详解</a:t>
            </a:r>
            <a:endParaRPr sz="18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AB"/>
                </a:solidFill>
                <a:latin typeface="Calibri" panose="020F0502020204030204"/>
              </a:rPr>
              <a:t>06</a:t>
            </a:r>
            <a:endParaRPr sz="2000" b="1">
              <a:solidFill>
                <a:srgbClr val="2E86AB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8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 panose="020F0502020204030204"/>
              </a:rPr>
              <a:t>漂移检测详解</a:t>
            </a:r>
            <a:endParaRPr sz="18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46451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AB"/>
                </a:solidFill>
                <a:latin typeface="Calibri" panose="020F0502020204030204"/>
              </a:rPr>
              <a:t>07</a:t>
            </a:r>
            <a:endParaRPr sz="2000" b="1">
              <a:solidFill>
                <a:srgbClr val="2E86A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46451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 panose="020F0502020204030204"/>
              </a:rPr>
              <a:t>调整量计算</a:t>
            </a:r>
            <a:endParaRPr sz="18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AB"/>
                </a:solidFill>
                <a:latin typeface="Calibri" panose="020F0502020204030204"/>
              </a:rPr>
              <a:t>08</a:t>
            </a:r>
            <a:endParaRPr sz="2000" b="1">
              <a:solidFill>
                <a:srgbClr val="2E86AB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28800" y="517550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 panose="020F0502020204030204"/>
              </a:rPr>
              <a:t>PLC 指令下发</a:t>
            </a:r>
            <a:endParaRPr sz="18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" y="570585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86AB"/>
                </a:solidFill>
                <a:latin typeface="Calibri" panose="020F0502020204030204"/>
              </a:rPr>
              <a:t>09</a:t>
            </a:r>
            <a:endParaRPr sz="2000" b="1">
              <a:solidFill>
                <a:srgbClr val="2E86AB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28800" y="570585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 panose="020F0502020204030204"/>
              </a:rPr>
              <a:t>状态机与参数速查</a:t>
            </a:r>
            <a:endParaRPr sz="1800" b="0">
              <a:solidFill>
                <a:srgbClr val="2C3E5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01  系统概述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200400" y="1645920"/>
            <a:ext cx="5760720" cy="1097280"/>
          </a:xfrm>
          <a:prstGeom prst="round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 panose="020F0502020204030204"/>
              </a:rPr>
              <a:t>压 接 机</a:t>
            </a:r>
            <a:endParaRPr sz="2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1371600" y="3261360"/>
            <a:ext cx="411480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铆压#1（压头 A）</a:t>
            </a:r>
            <a:br>
              <a:rPr sz="1400" b="1">
                <a:solidFill>
                  <a:srgbClr val="FFFFFF"/>
                </a:solidFill>
                <a:latin typeface="Calibri" panose="020F0502020204030204"/>
              </a:rPr>
            </a:br>
            <a:r>
              <a:t>产品1 + 产品2</a:t>
            </a:r>
          </a:p>
        </p:txBody>
      </p:sp>
      <p:sp>
        <p:nvSpPr>
          <p:cNvPr id="6" name="Rounded Rectangle 5"/>
          <p:cNvSpPr/>
          <p:nvPr>
            <p:custDataLst>
              <p:tags r:id="rId2"/>
            </p:custDataLst>
          </p:nvPr>
        </p:nvSpPr>
        <p:spPr>
          <a:xfrm>
            <a:off x="6675120" y="3261360"/>
            <a:ext cx="411480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铆压#2（压头 B）</a:t>
            </a:r>
            <a:br>
              <a:rPr sz="1400" b="1">
                <a:solidFill>
                  <a:srgbClr val="FFFFFF"/>
                </a:solidFill>
                <a:latin typeface="Calibri" panose="020F0502020204030204"/>
              </a:rPr>
            </a:br>
            <a:r>
              <a:t>产品3 + 产品4</a:t>
            </a:r>
          </a:p>
        </p:txBody>
      </p:sp>
      <p:sp>
        <p:nvSpPr>
          <p:cNvPr id="7" name="Down Arrow 6"/>
          <p:cNvSpPr/>
          <p:nvPr>
            <p:custDataLst>
              <p:tags r:id="rId3"/>
            </p:custDataLst>
          </p:nvPr>
        </p:nvSpPr>
        <p:spPr>
          <a:xfrm>
            <a:off x="5943600" y="2804160"/>
            <a:ext cx="274320" cy="36576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>
            <p:custDataLst>
              <p:tags r:id="rId4"/>
            </p:custDataLst>
          </p:nvPr>
        </p:nvSpPr>
        <p:spPr>
          <a:xfrm>
            <a:off x="3200400" y="2804160"/>
            <a:ext cx="274320" cy="36576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>
            <p:custDataLst>
              <p:tags r:id="rId5"/>
            </p:custDataLst>
          </p:nvPr>
        </p:nvSpPr>
        <p:spPr>
          <a:xfrm>
            <a:off x="8503920" y="2804160"/>
            <a:ext cx="274320" cy="36576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 panose="020F0502020204030204"/>
              </a:rPr>
              <a:t>每个压头独立分析、独立调整，互不干扰</a:t>
            </a:r>
            <a:endParaRPr sz="16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 panose="020F0502020204030204"/>
              </a:rPr>
              <a:t>核心目标：将压接高度稳定控制在规格中心点附近</a:t>
            </a:r>
            <a:endParaRPr sz="16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C3E50"/>
                </a:solidFill>
                <a:latin typeface="Calibri" panose="020F0502020204030204"/>
              </a:rPr>
              <a:t>过程漂移时及时修正，过程发散时报警停机</a:t>
            </a:r>
            <a:endParaRPr sz="1600">
              <a:solidFill>
                <a:srgbClr val="2C3E5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02  端到端数据流总览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011680" cy="50292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① CSV 文件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监视目录/YYYY-MM-DD/子目录/*.csv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6" name="Down Arrow 5"/>
          <p:cNvSpPr/>
          <p:nvPr/>
        </p:nvSpPr>
        <p:spPr>
          <a:xfrm>
            <a:off x="1737360" y="1874519"/>
            <a:ext cx="274320" cy="18288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84832"/>
            <a:ext cx="201168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② 数据读取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0" y="20848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解析每行，取最近 200 条有效数据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1737360" y="2587752"/>
            <a:ext cx="274320" cy="18288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798064"/>
            <a:ext cx="201168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③ 数据分流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0" y="2798064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铆压#1 → 头A  |  铆压#2 → 头B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1737360" y="3300984"/>
            <a:ext cx="274320" cy="18288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511296"/>
            <a:ext cx="201168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④ 统计计算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0" y="351129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截尾均值 μ、偏差 Deviation、斜率 Slope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1737360" y="4014215"/>
            <a:ext cx="274320" cy="18288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224528"/>
            <a:ext cx="2011680" cy="502920"/>
          </a:xfrm>
          <a:prstGeom prst="round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⑤ 五级仲裁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00400" y="42245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P1安全 → P2置信 → P3发散 → P4漂移/越界 → P5稳定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1737360" y="4727448"/>
            <a:ext cx="274320" cy="18288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937760"/>
            <a:ext cx="2011680" cy="502920"/>
          </a:xfrm>
          <a:prstGeom prst="round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⑥ PLC 指令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00400" y="4937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停机 &gt; 调整（优先级）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21" name="Down Arrow 20"/>
          <p:cNvSpPr/>
          <p:nvPr/>
        </p:nvSpPr>
        <p:spPr>
          <a:xfrm>
            <a:off x="1737360" y="5440680"/>
            <a:ext cx="274320" cy="182880"/>
          </a:xfrm>
          <a:prstGeom prst="down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5650992"/>
            <a:ext cx="201168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⑦ PLC 执行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0400" y="56509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压头位移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03  数据读取 — CSV 解析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74320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列索引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内容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映射字段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0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时间戳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Timestamp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1-4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产品1~4 结果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Product1~4Result (true/false)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7, 10, 13, 16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产品3,4,1,2 高度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ProductXLength (mm)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 panose="020F0502020204030204"/>
              </a:rPr>
              <a:t>有效性判断：4 个产品 Result 全部为 true 且 Length ≠ 999</a:t>
            </a:r>
            <a:endParaRPr sz="15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 panose="020F0502020204030204"/>
              </a:rPr>
              <a:t>任一产品无效 → 整行排除，4 个产品都不参与本轮计算</a:t>
            </a:r>
            <a:endParaRPr sz="15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 panose="020F0502020204030204"/>
              </a:rPr>
              <a:t>数据窗口：只取最近 WindowSize（默认 200）条有效数据</a:t>
            </a:r>
            <a:endParaRPr sz="15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 panose="020F0502020204030204"/>
              </a:rPr>
              <a:t>数据按时间正序排列，用于后续趋势分析</a:t>
            </a:r>
            <a:endParaRPr sz="1500">
              <a:solidFill>
                <a:srgbClr val="2C3E5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03  统计计算 — 截尾均值 · 偏差 · 斜率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截尾均值 TrimmedMean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alibri" panose="020F0502020204030204"/>
              </a:rPr>
              <a:t>排序 → 去掉头尾 5% → 求平均</a:t>
            </a:r>
            <a:endParaRPr sz="13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alibri" panose="020F0502020204030204"/>
              </a:rPr>
              <a:t>消除极端值（飞溅、测量异常）影响</a:t>
            </a:r>
            <a:endParaRPr sz="130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80560" y="1371600"/>
            <a:ext cx="3474720" cy="457200"/>
          </a:xfrm>
          <a:prstGeom prst="round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偏差 Deviation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80560" y="192024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alibri" panose="020F0502020204030204"/>
              </a:rPr>
              <a:t>TargetMidpoint = (上限+下限)/2 = 12.60mm</a:t>
            </a:r>
            <a:endParaRPr sz="13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alibri" panose="020F0502020204030204"/>
              </a:rPr>
              <a:t>Deviation = μ − 12.60</a:t>
            </a:r>
            <a:endParaRPr sz="13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alibri" panose="020F0502020204030204"/>
              </a:rPr>
              <a:t>正 = 偏高，负 = 偏低</a:t>
            </a:r>
            <a:endParaRPr sz="130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200400" cy="457200"/>
          </a:xfrm>
          <a:prstGeom prst="round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斜率 Slope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alibri" panose="020F0502020204030204"/>
              </a:rPr>
              <a:t>最小二乘线性回归</a:t>
            </a:r>
            <a:endParaRPr sz="13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alibri" panose="020F0502020204030204"/>
              </a:rPr>
              <a:t>slope &gt; 0 → 上升趋势</a:t>
            </a:r>
            <a:endParaRPr sz="13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alibri" panose="020F0502020204030204"/>
              </a:rPr>
              <a:t>slope &lt; 0 → 下降趋势</a:t>
            </a:r>
            <a:endParaRPr sz="130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C5E"/>
                </a:solidFill>
                <a:latin typeface="Calibri" panose="020F0502020204030204"/>
              </a:rPr>
              <a:t>各层均值的含义</a:t>
            </a:r>
            <a:endParaRPr sz="1800" b="1">
              <a:solidFill>
                <a:srgbClr val="1A3C5E"/>
              </a:solidFill>
              <a:latin typeface="Calibri" panose="020F0502020204030204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41148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926080"/>
                <a:gridCol w="45720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均值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计算范围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用途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μ₁（产品1截尾均值）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仅产品1数据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发散检测输入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μ₂（产品2截尾均值）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仅产品2数据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发散检测输入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μ（合并截尾均值）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产品1 ∪ 产品2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偏差计算、调整量计算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 panose="020F0502020204030204"/>
              </a:rPr>
              <a:t>04  五级优先级仲裁 — 核心机制</a:t>
            </a:r>
            <a:endParaRPr sz="3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  <a:latin typeface="Calibri" panose="020F0502020204030204"/>
              </a:rPr>
              <a:t>每拍每压头执行一次，按优先级从高到低匹配，命中即止</a:t>
            </a:r>
            <a:endParaRPr sz="16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73152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P1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安全护栏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0" y="16459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DC3C7"/>
                </a:solidFill>
                <a:latin typeface="Calibri" panose="020F0502020204030204"/>
              </a:rPr>
              <a:t>均值越界 / σ突增 / 数据失活</a:t>
            </a:r>
            <a:endParaRPr sz="15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3383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 panose="020F0502020204030204"/>
              </a:rPr>
              <a:t>→ Outlier 停机</a:t>
            </a:r>
            <a:endParaRPr sz="14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C3C7"/>
                </a:solidFill>
                <a:latin typeface="Calibri" panose="020F0502020204030204"/>
              </a:rPr>
              <a:t>↓ 未命中则继续</a:t>
            </a:r>
            <a:endParaRPr sz="11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731520" cy="64008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P2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0" y="26060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置信不足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0" y="26060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DC3C7"/>
                </a:solidFill>
                <a:latin typeface="Calibri" panose="020F0502020204030204"/>
              </a:rPr>
              <a:t>样本数 &lt; 50</a:t>
            </a:r>
            <a:endParaRPr sz="15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46720" y="2651760"/>
            <a:ext cx="3383280" cy="54864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 panose="020F0502020204030204"/>
              </a:rPr>
              <a:t>→ WarmUp 等待</a:t>
            </a:r>
            <a:endParaRPr sz="14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3246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C3C7"/>
                </a:solidFill>
                <a:latin typeface="Calibri" panose="020F0502020204030204"/>
              </a:rPr>
              <a:t>↓ 未命中则继续</a:t>
            </a:r>
            <a:endParaRPr sz="11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3566160"/>
            <a:ext cx="73152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P3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45920" y="3566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发散严重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0" y="3566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DC3C7"/>
                </a:solidFill>
                <a:latin typeface="Calibri" panose="020F0502020204030204"/>
              </a:rPr>
              <a:t>|D| &gt; 2T (0.04mm)</a:t>
            </a:r>
            <a:endParaRPr sz="15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46720" y="3611880"/>
            <a:ext cx="338328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 panose="020F0502020204030204"/>
              </a:rPr>
              <a:t>→ 停机维护</a:t>
            </a:r>
            <a:endParaRPr sz="14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C3C7"/>
                </a:solidFill>
                <a:latin typeface="Calibri" panose="020F0502020204030204"/>
              </a:rPr>
              <a:t>↓ 未命中则继续</a:t>
            </a:r>
            <a:endParaRPr sz="11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" y="4526280"/>
            <a:ext cx="731520" cy="640080"/>
          </a:xfrm>
          <a:prstGeom prst="round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P4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45920" y="45262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越界/漂移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57600" y="4526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DC3C7"/>
                </a:solidFill>
                <a:latin typeface="Calibri" panose="020F0502020204030204"/>
              </a:rPr>
              <a:t>偏差越界 或 漂移确认</a:t>
            </a:r>
            <a:endParaRPr sz="15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46720" y="4572000"/>
            <a:ext cx="3383280" cy="548640"/>
          </a:xfrm>
          <a:prstGeom prst="round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 panose="020F0502020204030204"/>
              </a:rPr>
              <a:t>→ 计算调整量 Δ</a:t>
            </a:r>
            <a:endParaRPr sz="14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DC3C7"/>
                </a:solidFill>
                <a:latin typeface="Calibri" panose="020F0502020204030204"/>
              </a:rPr>
              <a:t>↓ 未命中则继续</a:t>
            </a:r>
            <a:endParaRPr sz="11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73152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P5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45920" y="5486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稳定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57600" y="54864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DC3C7"/>
                </a:solidFill>
                <a:latin typeface="Calibri" panose="020F0502020204030204"/>
              </a:rPr>
              <a:t>以上均不满足</a:t>
            </a:r>
            <a:endParaRPr sz="15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46720" y="5532120"/>
            <a:ext cx="338328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 panose="020F0502020204030204"/>
              </a:rPr>
              <a:t>→ Stable 不动作</a:t>
            </a:r>
            <a:endParaRPr sz="1400" b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74C3C"/>
                </a:solidFill>
                <a:latin typeface="Calibri" panose="020F0502020204030204"/>
              </a:rPr>
              <a:t>P1  安全护栏（最高优先级）</a:t>
            </a:r>
            <a:endParaRPr sz="3200" b="1">
              <a:solidFill>
                <a:srgbClr val="E74C3C"/>
              </a:solidFill>
              <a:latin typeface="Calibri" panose="020F050202020403020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669280"/>
              </a:tblGrid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检查项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触发条件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含义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合理性阈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μ &lt; 12.40 或 μ &gt; 12.80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均值严重偏离，可能是测量错误或模具损坏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σ 突增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σ &gt; 基线σ × 3.0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过程波动突然变大，可能是模具松动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数据失活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最后数据距今 &gt; 60s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数据源中断，无法信任当前判断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114800"/>
            <a:ext cx="10698480" cy="9144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触发 → State = Outlier → 发停机指令，不做任何调整</a:t>
            </a:r>
            <a:endParaRPr sz="1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 panose="020F0502020204030204"/>
              </a:rPr>
              <a:t>σ 基线取历史最小值（只在 Stable 和 Drift 时更新）</a:t>
            </a:r>
            <a:endParaRPr sz="15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C3E50"/>
                </a:solidFill>
                <a:latin typeface="Calibri" panose="020F0502020204030204"/>
              </a:rPr>
              <a:t>合理性范围远大于规格范围（12.40~12.80 vs 12.55~12.65），只拦截极端异常</a:t>
            </a:r>
            <a:endParaRPr sz="1500">
              <a:solidFill>
                <a:srgbClr val="2C3E5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P2 置信不足  &amp;  P3 发散严重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P2  置信不足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触发条件：有效样本数 &lt; MinSamplesPerEpoch (50)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场景：刚换模、刚开机、epoch 刚重置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产出：State = WarmUp，不动作，继续采集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P3  发散严重 (Stop)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触发条件：|D| &gt; 2T = 0.04mm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D = μ₁ − μ₂（两产品截尾均值之差）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含义：两个产品高度差异过大，机械有问题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单靠调整压头无法同时修正两个产品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产出：停机，需人工维护模具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C5E"/>
                </a:solidFill>
                <a:latin typeface="Calibri" panose="020F0502020204030204"/>
              </a:rPr>
              <a:t>发散三级判定</a:t>
            </a:r>
            <a:endParaRPr sz="18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20040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|D| &lt; T → Normal</a:t>
            </a:r>
            <a:br>
              <a:rPr sz="1200" b="1">
                <a:solidFill>
                  <a:srgbClr val="FFFFFF"/>
                </a:solidFill>
                <a:latin typeface="Calibri" panose="020F0502020204030204"/>
              </a:rPr>
            </a:br>
            <a:r>
              <a:t>全速控制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5120640"/>
            <a:ext cx="3474720" cy="5486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C3E50"/>
                </a:solidFill>
                <a:latin typeface="Calibri" panose="020F0502020204030204"/>
              </a:rPr>
              <a:t>T ≤ |D| ≤ 2T → Degraded</a:t>
            </a:r>
            <a:br>
              <a:rPr sz="1200" b="1">
                <a:solidFill>
                  <a:srgbClr val="2C3E50"/>
                </a:solidFill>
                <a:latin typeface="Calibri" panose="020F0502020204030204"/>
              </a:rPr>
            </a:br>
            <a:r>
              <a:t>K 减半，更保守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5120640"/>
            <a:ext cx="3474720" cy="5486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|D| &gt; 2T → Stop</a:t>
            </a:r>
            <a:br>
              <a:rPr sz="1200" b="1">
                <a:solidFill>
                  <a:srgbClr val="FFFFFF"/>
                </a:solidFill>
                <a:latin typeface="Calibri" panose="020F0502020204030204"/>
              </a:rPr>
            </a:br>
            <a:r>
              <a:t>停机维护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Calibri" panose="020F0502020204030204"/>
              </a:rPr>
              <a:t>T = DivergenceThreshold = 0.02mm</a:t>
            </a:r>
            <a:endParaRPr sz="1300" b="0">
              <a:solidFill>
                <a:srgbClr val="7F8C8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6F2C"/>
                </a:solidFill>
                <a:latin typeface="Calibri" panose="020F0502020204030204"/>
              </a:rPr>
              <a:t>P4  越界 与 漂移确认</a:t>
            </a:r>
            <a:endParaRPr sz="3200" b="1">
              <a:solidFill>
                <a:srgbClr val="E86F2C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Calibri" panose="020F0502020204030204"/>
              </a:rPr>
              <a:t>两个条件是"或"关系，任一满足即触发调整</a:t>
            </a:r>
            <a:endParaRPr sz="1600" b="0">
              <a:solidFill>
                <a:srgbClr val="7F8C8D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57200"/>
          </a:xfrm>
          <a:prstGeom prst="round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条件A：偏差越界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Deviation &gt; +0.02mm → 偏高越界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Deviation &lt; −0.02mm → 偏低越界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死区 [−0.02, +0.02] 内不触发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处理的是突变（阶跃变化）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条件B：漂移确认 (DriftScore)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连续 3 拍斜率同号（全正或全负）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且 平均|slope| ≥ 0.0001 mm/拍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数据先对齐（减各自均值）再算斜率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处理的是渐变（温度漂移、模具磨损）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6F2C"/>
                </a:solidFill>
                <a:latin typeface="Calibri" panose="020F0502020204030204"/>
              </a:rPr>
              <a:t>触发后 → 计算调整量 Δ = K × Deviation</a:t>
            </a:r>
            <a:endParaRPr sz="1800" b="1">
              <a:solidFill>
                <a:srgbClr val="E86F2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07  调整量计算 — R2R 控制律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97280"/>
          </a:xfrm>
          <a:prstGeom prst="round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 panose="020F0502020204030204"/>
              </a:rPr>
              <a:t>Δ = K × Deviation</a:t>
            </a:r>
            <a:br>
              <a:rPr sz="1800" b="1">
                <a:solidFill>
                  <a:srgbClr val="FFFFFF"/>
                </a:solidFill>
                <a:latin typeface="Calibri" panose="020F0502020204030204"/>
              </a:rPr>
            </a:br>
            <a:r>
              <a:t>K = ControllerGain (0.5)，Degraded 时 K × 0.5 = 0.25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C5E"/>
                </a:solidFill>
                <a:latin typeface="Calibri" panose="020F0502020204030204"/>
              </a:rPr>
              <a:t>计算流程</a:t>
            </a:r>
            <a:endParaRPr sz="20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731520" y="3200400"/>
            <a:ext cx="22860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1. 死区判断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32004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偏差在 [−0.02, +0.02]？ → Δ=0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>
            <p:custDataLst>
              <p:tags r:id="rId3"/>
            </p:custDataLst>
          </p:nvPr>
        </p:nvSpPr>
        <p:spPr>
          <a:xfrm>
            <a:off x="731520" y="3840480"/>
            <a:ext cx="228600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2. 确定有效K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32004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Normal: K=0.5 | Degraded: K=0.25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731520" y="4480560"/>
            <a:ext cx="228600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3. 计算原始Δ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3200400" y="4480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rawDelta = K × Deviation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731520" y="5120640"/>
            <a:ext cx="2286000" cy="457200"/>
          </a:xfrm>
          <a:prstGeom prst="round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4. 步长限幅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320040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Clamp(Δ, −0.01, +0.01)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C5E"/>
                </a:solidFill>
                <a:latin typeface="Calibri" panose="020F0502020204030204"/>
              </a:rPr>
              <a:t>调整方向</a:t>
            </a:r>
            <a:endParaRPr sz="18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0" y="32004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Δ &gt; 0 → 压头下降（压更深，高度降低）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Δ &lt; 0 → 压头上升（压更浅，高度升高）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Δ = 0 → 不动作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07  调整量计算 — 示例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 panose="020F0502020204030204"/>
              </a:rPr>
              <a:t>示例1：偏高，Normal 模式</a:t>
            </a:r>
            <a:endParaRPr sz="1400" b="1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步骤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计算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结果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截尾均值 μ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—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12.623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目标点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(12.65+12.55)/2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12.600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偏差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12.623 − 12.600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+0.023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原始Δ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0.5 × 0.023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+0.0115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限幅后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Clamp(+0.0115, −0.01, +0.01)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+0.010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方向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Δ &gt; 0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压头下降 0.01mm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217920" y="1371600"/>
            <a:ext cx="521208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C3E50"/>
                </a:solidFill>
                <a:latin typeface="Calibri" panose="020F0502020204030204"/>
              </a:rPr>
              <a:t>示例2：偏低，Degraded 模式</a:t>
            </a:r>
            <a:endParaRPr sz="1400" b="1">
              <a:solidFill>
                <a:srgbClr val="2C3E50"/>
              </a:solidFill>
              <a:latin typeface="Calibri" panose="020F050202020403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920240"/>
          <a:ext cx="5212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55448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步骤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计算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结果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截尾均值 μ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—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12.585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偏差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12.585 − 12.600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−0.015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有效K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0.5 × 0.5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0.25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原始Δ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0.25 × (−0.015)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−0.00375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限幅后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未触发限幅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−0.00375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方向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Δ &lt; 0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压头上升 0.00375mm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6F2C"/>
                </a:solidFill>
                <a:latin typeface="Calibri" panose="020F0502020204030204"/>
              </a:rPr>
              <a:t>注意：Degraded 模式下 K 减半，调整量更保守，避免在模具异常时过度修正</a:t>
            </a:r>
            <a:endParaRPr sz="1400" b="0">
              <a:solidFill>
                <a:srgbClr val="E86F2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06  漂移检测详解 — DriftScore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C5E"/>
                </a:solidFill>
                <a:latin typeface="Calibri" panose="020F0502020204030204"/>
              </a:rPr>
              <a:t>检测流程</a:t>
            </a:r>
            <a:endParaRPr sz="20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4592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① 线性回归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60320" y="1645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对当前窗口数据计算 slope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64592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② 存入历史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60320" y="21945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保留最近 6 个 slope 值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64592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③ 方向检查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60320" y="2743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最近 3 个 slope 全正或全负？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39"/>
            <a:ext cx="164592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④ 幅度检查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60320" y="32918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平均|slope| ≥ 0.0001 mm/拍？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64592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⑤ 确认漂移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60320" y="3840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③④ 同时满足 → driftConfirmed = true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C5E"/>
                </a:solidFill>
                <a:latin typeface="Calibri" panose="020F0502020204030204"/>
              </a:rPr>
              <a:t>为什么要数据对齐？</a:t>
            </a:r>
            <a:endParaRPr sz="18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16459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同一压头下两个产品可能有固定高度落差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不对齐 → 斜率被产品间差异干扰 → 误判漂移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对齐方法：每个产品减去各自均值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对齐后只保留波动趋势，消除固定落差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C5E"/>
                </a:solidFill>
                <a:latin typeface="Calibri" panose="020F0502020204030204"/>
              </a:rPr>
              <a:t>漂移 vs 越界</a:t>
            </a:r>
            <a:endParaRPr sz="1800" b="1">
              <a:solidFill>
                <a:srgbClr val="1A3C5E"/>
              </a:solidFill>
              <a:latin typeface="Calibri" panose="020F0502020204030204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0" y="457200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/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越界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漂移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触发方式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单拍偏差超出容差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连续多拍趋势一致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含义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突然偏离（阶跃变化）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渐进偏移（温度/磨损）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关系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或关系，任一满足触发调整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或关系，任一满足触发调整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05  发散检测详解 — DivergenceGrader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731520"/>
          </a:xfrm>
          <a:prstGeom prst="round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D = μ₁ − μ₂（产品1截尾均值 − 产品2截尾均值）</a:t>
            </a:r>
            <a:br>
              <a:rPr sz="1600" b="1">
                <a:solidFill>
                  <a:srgbClr val="FFFFFF"/>
                </a:solidFill>
                <a:latin typeface="Calibri" panose="020F0502020204030204"/>
              </a:rPr>
            </a:br>
            <a:r>
              <a:t>衡量同一压头下两个产品的高度差异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C5E"/>
                </a:solidFill>
                <a:latin typeface="Calibri" panose="020F0502020204030204"/>
              </a:rPr>
              <a:t>三级判定</a:t>
            </a:r>
            <a:endParaRPr sz="2000" b="1">
              <a:solidFill>
                <a:srgbClr val="1A3C5E"/>
              </a:solidFill>
              <a:latin typeface="Calibri" panose="020F050202020403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01752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3200400"/>
                <a:gridCol w="292608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条件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等级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动作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K 倍率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|D| &lt; 0.02mm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Normal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全速控制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K = 0.5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0.02 ≤ |D| ≤ 0.04mm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Degraded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继续控制，K 减半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K = 0.25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|D| &gt; 0.04mm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Stop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停机维护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不计算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C5E"/>
                </a:solidFill>
                <a:latin typeface="Calibri" panose="020F0502020204030204"/>
              </a:rPr>
              <a:t>物理含义</a:t>
            </a:r>
            <a:endParaRPr sz="18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Normal：两产品高度一致 → 模具状态良好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Degraded：两产品开始有差异 → 可能轻微磨损，降低增益避免过度修正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 panose="020F0502020204030204"/>
              </a:rPr>
              <a:t>Stop：两产品差异过大 → 单靠调整压头无法同时修正，必须停机检查模具</a:t>
            </a:r>
            <a:endParaRPr sz="1400">
              <a:solidFill>
                <a:srgbClr val="2C3E5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08  PLC 指令下发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 panose="020F0502020204030204"/>
              </a:rPr>
              <a:t>核心原则：停机指令 &gt; 调整指令</a:t>
            </a:r>
            <a:endParaRPr sz="20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C5E"/>
                </a:solidFill>
                <a:latin typeface="Calibri" panose="020F0502020204030204"/>
              </a:rPr>
              <a:t>指令判断逻辑</a:t>
            </a:r>
            <a:endParaRPr sz="20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22860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检查停机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0" y="28346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任一压头 RequiresStop = true？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520440"/>
            <a:ext cx="22860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是 → 发停机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0" y="35204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SendStopAsync(reason)，跳过所有调整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228600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否 → 检查调整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0" y="4206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压头A/B 各自 RequiresAction = true？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228600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 panose="020F0502020204030204"/>
              </a:rPr>
              <a:t>发调整指令</a:t>
            </a:r>
            <a:endParaRPr sz="13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00400" y="48920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 panose="020F0502020204030204"/>
              </a:rPr>
              <a:t>SendAdjustmentAsync(headIndex, Δ)</a:t>
            </a:r>
            <a:endParaRPr sz="1400" b="0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C5E"/>
                </a:solidFill>
                <a:latin typeface="Calibri" panose="020F0502020204030204"/>
              </a:rPr>
              <a:t>触发条件</a:t>
            </a:r>
            <a:endParaRPr sz="1800" b="1">
              <a:solidFill>
                <a:srgbClr val="1A3C5E"/>
              </a:solidFill>
              <a:latin typeface="Calibri" panose="020F0502020204030204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0" y="2834640"/>
          <a:ext cx="4114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1371600"/>
              </a:tblGrid>
              <a:tr h="426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场景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停机？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调整？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安全护栏触发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Yes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No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发散 Stop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Yes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No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越界/漂移(Δ≠0)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No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Yes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越界/漂移(Δ=0)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No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No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Stable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No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No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09  状态机总结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C5E"/>
                </a:solidFill>
                <a:latin typeface="Calibri" panose="020F0502020204030204"/>
              </a:rPr>
              <a:t>压头状态 (HeadState)</a:t>
            </a:r>
            <a:endParaRPr sz="20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286000" cy="64008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WarmUp</a:t>
            </a:r>
            <a:br>
              <a:rPr sz="1200" b="1">
                <a:solidFill>
                  <a:srgbClr val="FFFFFF"/>
                </a:solidFill>
                <a:latin typeface="Calibri" panose="020F0502020204030204"/>
              </a:rPr>
            </a:br>
            <a:r>
              <a:t>数据采集中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28600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Stable</a:t>
            </a:r>
            <a:br>
              <a:rPr sz="1200" b="1">
                <a:solidFill>
                  <a:srgbClr val="FFFFFF"/>
                </a:solidFill>
                <a:latin typeface="Calibri" panose="020F0502020204030204"/>
              </a:rPr>
            </a:br>
            <a:r>
              <a:t>稳态，不动作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286000" cy="640080"/>
          </a:xfrm>
          <a:prstGeom prst="round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Drift</a:t>
            </a:r>
            <a:br>
              <a:rPr sz="1200" b="1">
                <a:solidFill>
                  <a:srgbClr val="FFFFFF"/>
                </a:solidFill>
                <a:latin typeface="Calibri" panose="020F0502020204030204"/>
              </a:rPr>
            </a:br>
            <a:r>
              <a:t>执行调整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28600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Outlier</a:t>
            </a:r>
            <a:br>
              <a:rPr sz="1200" b="1">
                <a:solidFill>
                  <a:srgbClr val="FFFFFF"/>
                </a:solidFill>
                <a:latin typeface="Calibri" panose="020F0502020204030204"/>
              </a:rPr>
            </a:br>
            <a:r>
              <a:t>停机报警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C5E"/>
                </a:solidFill>
                <a:latin typeface="Calibri" panose="020F0502020204030204"/>
              </a:rPr>
              <a:t>状态转换表</a:t>
            </a:r>
            <a:endParaRPr sz="1800" b="1">
              <a:solidFill>
                <a:srgbClr val="1A3C5E"/>
              </a:solidFill>
              <a:latin typeface="Calibri" panose="020F05020202040302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32004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286000"/>
                <a:gridCol w="3840480"/>
              </a:tblGrid>
              <a:tr h="426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当前状态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条件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下一状态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动作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任意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安全护栏触发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Outlier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停机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任意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样本不足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WarmUp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等待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任意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发散 Stop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Drift(Stop)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停机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任意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越界或漂移确认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Drift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计算调整量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任意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以上均不满足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Stable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不动作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C5E"/>
                </a:solidFill>
                <a:latin typeface="Calibri" panose="020F0502020204030204"/>
              </a:rPr>
              <a:t>发散等级 (DivergenceLevel)</a:t>
            </a:r>
            <a:endParaRPr sz="1800" b="1">
              <a:solidFill>
                <a:srgbClr val="1A3C5E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0" y="5943600"/>
            <a:ext cx="182880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Normal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98079" y="5943600"/>
            <a:ext cx="1828800" cy="457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C3E50"/>
                </a:solidFill>
                <a:latin typeface="Calibri" panose="020F0502020204030204"/>
              </a:rPr>
              <a:t>Degraded</a:t>
            </a:r>
            <a:endParaRPr sz="12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509760" y="5943600"/>
            <a:ext cx="182880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 panose="020F0502020204030204"/>
              </a:rPr>
              <a:t>Stop</a:t>
            </a:r>
            <a:endParaRPr sz="1200" b="1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09  关键参数速查表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5212080"/>
              </a:tblGrid>
              <a:tr h="3535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参数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默认值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说明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UpperLimit / LowerLimit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12.65 / 12.55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规格上下限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UpperTolerance / LowerTolerance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0.02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死区范围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ControllerGain (K)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0.5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比例增益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MaxStepPerAdjust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0.01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单次最大步长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DivergenceThreshold (T)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0.02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发散判定阈值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DegradedGainFactor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0.5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降级模式 K 折减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DriftConfirmCycles (N)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3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漂移确认连续拍数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DriftSlopeThreshold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0.0001 mm/拍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斜率最小幅度门限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TrimPercentage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5%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截尾比例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WindowSize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200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分析窗口大小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MinSamplesPerEpoch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50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最少样本数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SafetyUpperBound / LowerBound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12.80 / 12.40 mm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合理性范围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SigmaSpikeFactor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3.0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σ 突增倍数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DataStaleTimeoutSeconds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60 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数据失活超时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3C5E"/>
                </a:solidFill>
                <a:latin typeface="Calibri" panose="020F0502020204030204"/>
              </a:rPr>
              <a:t>09  代码模块对照表</a:t>
            </a:r>
            <a:endParaRPr sz="3200" b="1">
              <a:solidFill>
                <a:srgbClr val="1A3C5E"/>
              </a:solidFill>
              <a:latin typeface="Calibri" panose="020F050202020403020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66928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模块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文件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职责</a:t>
                      </a:r>
                      <a:endParaRPr sz="13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1A3C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数据读取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CsvDataProvider.cs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解析 CSV，返回有效数据列表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统计计算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TrimmedMeanCalculator.cs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截尾均值、标准差、斜率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发散分级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DivergenceGrader.cs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D 值计算，Normal/Degraded/Stop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漂移检测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DriftDetector.cs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斜率历史维护，漂移确认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安全护栏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SafetyGuard.cs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合理性阈、σ突增、数据失活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调整量计算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R2RController.cs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Δ = K × Deviation，死区和限幅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决策仲裁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DecisionArbiter.cs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五级优先级仲裁，产出 HeadDecision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PLC 通信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IPlcAdapter.cs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调整/停机/位置读取接口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UI 调度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MainViewModel.cs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 panose="020F0502020204030204"/>
                        </a:rPr>
                        <a:t>数据刷新、仲裁调用、PLC 指令下发</a:t>
                      </a:r>
                      <a:endParaRPr sz="1200">
                        <a:solidFill>
                          <a:srgbClr val="2C3E50"/>
                        </a:solidFill>
                        <a:latin typeface="Calibri" panose="020F05020202040302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 panose="020F0502020204030204"/>
              </a:rPr>
              <a:t>Thank You</a:t>
            </a:r>
            <a:endParaRPr sz="4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DC3C7"/>
                </a:solidFill>
                <a:latin typeface="Calibri" panose="020F0502020204030204"/>
              </a:rPr>
              <a:t>压接高度自动调整系统  ·  内部培训</a:t>
            </a:r>
            <a:endParaRPr sz="20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DC3C7"/>
                </a:solidFill>
                <a:latin typeface="Calibri" panose="020F0502020204030204"/>
              </a:rPr>
              <a:t>如有疑问请联系控制系统团队</a:t>
            </a:r>
            <a:endParaRPr sz="1600" b="0">
              <a:solidFill>
                <a:srgbClr val="BDC3C7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0" y="3337560"/>
            <a:ext cx="4846320" cy="36576"/>
          </a:xfrm>
          <a:prstGeom prst="rect">
            <a:avLst/>
          </a:prstGeom>
          <a:solidFill>
            <a:srgbClr val="E8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8,&quot;left&quot;:108,&quot;top&quot;:220.8,&quot;width&quot;:741.6}"/>
</p:tagLst>
</file>

<file path=ppt/tags/tag2.xml><?xml version="1.0" encoding="utf-8"?>
<p:tagLst xmlns:p="http://schemas.openxmlformats.org/presentationml/2006/main">
  <p:tag name="KSO_WM_DIAGRAM_VIRTUALLY_FRAME" val="{&quot;height&quot;:108,&quot;left&quot;:108,&quot;top&quot;:220.8,&quot;width&quot;:741.6}"/>
</p:tagLst>
</file>

<file path=ppt/tags/tag3.xml><?xml version="1.0" encoding="utf-8"?>
<p:tagLst xmlns:p="http://schemas.openxmlformats.org/presentationml/2006/main">
  <p:tag name="KSO_WM_DIAGRAM_VIRTUALLY_FRAME" val="{&quot;height&quot;:108,&quot;left&quot;:108,&quot;top&quot;:220.8,&quot;width&quot;:741.6}"/>
</p:tagLst>
</file>

<file path=ppt/tags/tag4.xml><?xml version="1.0" encoding="utf-8"?>
<p:tagLst xmlns:p="http://schemas.openxmlformats.org/presentationml/2006/main">
  <p:tag name="KSO_WM_DIAGRAM_VIRTUALLY_FRAME" val="{&quot;height&quot;:108,&quot;left&quot;:108,&quot;top&quot;:220.8,&quot;width&quot;:741.6}"/>
</p:tagLst>
</file>

<file path=ppt/tags/tag5.xml><?xml version="1.0" encoding="utf-8"?>
<p:tagLst xmlns:p="http://schemas.openxmlformats.org/presentationml/2006/main">
  <p:tag name="KSO_WM_DIAGRAM_VIRTUALLY_FRAME" val="{&quot;height&quot;:108,&quot;left&quot;:108,&quot;top&quot;:220.8,&quot;width&quot;:741.6}"/>
</p:tagLst>
</file>

<file path=ppt/tags/tag6.xml><?xml version="1.0" encoding="utf-8"?>
<p:tagLst xmlns:p="http://schemas.openxmlformats.org/presentationml/2006/main">
  <p:tag name="KSO_WM_DIAGRAM_VIRTUALLY_FRAME" val="{&quot;height&quot;:187.2,&quot;left&quot;:57.6,&quot;top&quot;:252,&quot;width&quot;:626.4}"/>
</p:tagLst>
</file>

<file path=ppt/tags/tag7.xml><?xml version="1.0" encoding="utf-8"?>
<p:tagLst xmlns:p="http://schemas.openxmlformats.org/presentationml/2006/main">
  <p:tag name="KSO_WM_DIAGRAM_VIRTUALLY_FRAME" val="{&quot;height&quot;:187.2,&quot;left&quot;:57.6,&quot;top&quot;:252,&quot;width&quot;:626.4}"/>
</p:tagLst>
</file>

<file path=ppt/tags/tag8.xml><?xml version="1.0" encoding="utf-8"?>
<p:tagLst xmlns:p="http://schemas.openxmlformats.org/presentationml/2006/main">
  <p:tag name="KSO_WM_DIAGRAM_VIRTUALLY_FRAME" val="{&quot;height&quot;:187.2,&quot;left&quot;:57.6,&quot;top&quot;:252,&quot;width&quot;:626.4}"/>
</p:tagLst>
</file>

<file path=ppt/tags/tag9.xml><?xml version="1.0" encoding="utf-8"?>
<p:tagLst xmlns:p="http://schemas.openxmlformats.org/presentationml/2006/main">
  <p:tag name="KSO_WM_DIAGRAM_VIRTUALLY_FRAME" val="{&quot;height&quot;:187.2,&quot;left&quot;:57.6,&quot;top&quot;:252,&quot;width&quot;:626.4}"/>
</p:tagLst>
</file>

<file path=ppt/tags/tag10.xml><?xml version="1.0" encoding="utf-8"?>
<p:tagLst xmlns:p="http://schemas.openxmlformats.org/presentationml/2006/main">
  <p:tag name="KSO_WM_DIAGRAM_VIRTUALLY_FRAME" val="{&quot;height&quot;:187.2,&quot;left&quot;:57.6,&quot;top&quot;:252,&quot;width&quot;:626.4}"/>
</p:tagLst>
</file>

<file path=ppt/tags/tag11.xml><?xml version="1.0" encoding="utf-8"?>
<p:tagLst xmlns:p="http://schemas.openxmlformats.org/presentationml/2006/main">
  <p:tag name="KSO_WM_DIAGRAM_VIRTUALLY_FRAME" val="{&quot;height&quot;:187.2,&quot;left&quot;:57.6,&quot;top&quot;:252,&quot;width&quot;:626.4}"/>
</p:tagLst>
</file>

<file path=ppt/tags/tag12.xml><?xml version="1.0" encoding="utf-8"?>
<p:tagLst xmlns:p="http://schemas.openxmlformats.org/presentationml/2006/main">
  <p:tag name="KSO_WM_DIAGRAM_VIRTUALLY_FRAME" val="{&quot;height&quot;:187.2,&quot;left&quot;:57.6,&quot;top&quot;:252,&quot;width&quot;:626.4}"/>
</p:tagLst>
</file>

<file path=ppt/tags/tag13.xml><?xml version="1.0" encoding="utf-8"?>
<p:tagLst xmlns:p="http://schemas.openxmlformats.org/presentationml/2006/main">
  <p:tag name="KSO_WM_DIAGRAM_VIRTUALLY_FRAME" val="{&quot;height&quot;:187.2,&quot;left&quot;:57.6,&quot;top&quot;:252,&quot;width&quot;:626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4649</Words>
  <Application>WPS 演示</Application>
  <PresentationFormat>On-screen Show (4:3)</PresentationFormat>
  <Paragraphs>800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MS PGothic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WPS_1642813290</cp:lastModifiedBy>
  <cp:revision>2</cp:revision>
  <dcterms:created xsi:type="dcterms:W3CDTF">2013-01-27T09:14:00Z</dcterms:created>
  <dcterms:modified xsi:type="dcterms:W3CDTF">2026-07-15T07:27:01Z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6C63368449A74530B9C8332FBA14F476_12</vt:lpwstr>
  </property>
</Properties>
</file>